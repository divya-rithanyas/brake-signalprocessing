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FAF271-1C29-40CF-928B-19A57D19B045}" v="1" dt="2026-03-04T02:41:40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 Rithanya Sivakumar" userId="8c56ccde6f2dff38" providerId="LiveId" clId="{CC116DD4-24D3-4C88-A84B-98BCEB5922D9}"/>
    <pc:docChg chg="custSel addSld modSld">
      <pc:chgData name="Divya Rithanya Sivakumar" userId="8c56ccde6f2dff38" providerId="LiveId" clId="{CC116DD4-24D3-4C88-A84B-98BCEB5922D9}" dt="2026-03-04T02:42:44.635" v="58" actId="20577"/>
      <pc:docMkLst>
        <pc:docMk/>
      </pc:docMkLst>
      <pc:sldChg chg="modSp mod">
        <pc:chgData name="Divya Rithanya Sivakumar" userId="8c56ccde6f2dff38" providerId="LiveId" clId="{CC116DD4-24D3-4C88-A84B-98BCEB5922D9}" dt="2026-03-04T02:42:44.635" v="58" actId="20577"/>
        <pc:sldMkLst>
          <pc:docMk/>
          <pc:sldMk cId="4007537534" sldId="275"/>
        </pc:sldMkLst>
        <pc:spChg chg="mod">
          <ac:chgData name="Divya Rithanya Sivakumar" userId="8c56ccde6f2dff38" providerId="LiveId" clId="{CC116DD4-24D3-4C88-A84B-98BCEB5922D9}" dt="2026-03-04T02:42:44.635" v="58" actId="20577"/>
          <ac:spMkLst>
            <pc:docMk/>
            <pc:sldMk cId="4007537534" sldId="275"/>
            <ac:spMk id="2" creationId="{7D54585F-30C5-F832-7977-2A09BCA121EE}"/>
          </ac:spMkLst>
        </pc:spChg>
      </pc:sldChg>
      <pc:sldChg chg="addSp delSp modSp mod">
        <pc:chgData name="Divya Rithanya Sivakumar" userId="8c56ccde6f2dff38" providerId="LiveId" clId="{CC116DD4-24D3-4C88-A84B-98BCEB5922D9}" dt="2026-03-04T02:41:38.137" v="4" actId="1076"/>
        <pc:sldMkLst>
          <pc:docMk/>
          <pc:sldMk cId="3602594092" sldId="285"/>
        </pc:sldMkLst>
        <pc:picChg chg="del">
          <ac:chgData name="Divya Rithanya Sivakumar" userId="8c56ccde6f2dff38" providerId="LiveId" clId="{CC116DD4-24D3-4C88-A84B-98BCEB5922D9}" dt="2026-03-04T02:41:28.309" v="0" actId="478"/>
          <ac:picMkLst>
            <pc:docMk/>
            <pc:sldMk cId="3602594092" sldId="285"/>
            <ac:picMk id="5" creationId="{8773C5D6-14DC-39DA-B83F-BE2752FE48F3}"/>
          </ac:picMkLst>
        </pc:picChg>
        <pc:picChg chg="add mod">
          <ac:chgData name="Divya Rithanya Sivakumar" userId="8c56ccde6f2dff38" providerId="LiveId" clId="{CC116DD4-24D3-4C88-A84B-98BCEB5922D9}" dt="2026-03-04T02:41:38.137" v="4" actId="1076"/>
          <ac:picMkLst>
            <pc:docMk/>
            <pc:sldMk cId="3602594092" sldId="285"/>
            <ac:picMk id="6" creationId="{898D359E-F806-7EDB-038C-831079FFF0B1}"/>
          </ac:picMkLst>
        </pc:picChg>
      </pc:sldChg>
      <pc:sldChg chg="addSp delSp modSp add mod">
        <pc:chgData name="Divya Rithanya Sivakumar" userId="8c56ccde6f2dff38" providerId="LiveId" clId="{CC116DD4-24D3-4C88-A84B-98BCEB5922D9}" dt="2026-03-04T02:42:24.242" v="39" actId="1076"/>
        <pc:sldMkLst>
          <pc:docMk/>
          <pc:sldMk cId="1241755670" sldId="286"/>
        </pc:sldMkLst>
        <pc:spChg chg="mod">
          <ac:chgData name="Divya Rithanya Sivakumar" userId="8c56ccde6f2dff38" providerId="LiveId" clId="{CC116DD4-24D3-4C88-A84B-98BCEB5922D9}" dt="2026-03-04T02:42:01.639" v="33" actId="14100"/>
          <ac:spMkLst>
            <pc:docMk/>
            <pc:sldMk cId="1241755670" sldId="286"/>
            <ac:spMk id="2" creationId="{53C46376-9F3E-73C3-CB6F-CEC50DB35577}"/>
          </ac:spMkLst>
        </pc:spChg>
        <pc:picChg chg="add mod">
          <ac:chgData name="Divya Rithanya Sivakumar" userId="8c56ccde6f2dff38" providerId="LiveId" clId="{CC116DD4-24D3-4C88-A84B-98BCEB5922D9}" dt="2026-03-04T02:42:24.242" v="39" actId="1076"/>
          <ac:picMkLst>
            <pc:docMk/>
            <pc:sldMk cId="1241755670" sldId="286"/>
            <ac:picMk id="5" creationId="{8D13E18E-36A0-74E3-164B-19130F668036}"/>
          </ac:picMkLst>
        </pc:picChg>
        <pc:picChg chg="del">
          <ac:chgData name="Divya Rithanya Sivakumar" userId="8c56ccde6f2dff38" providerId="LiveId" clId="{CC116DD4-24D3-4C88-A84B-98BCEB5922D9}" dt="2026-03-04T02:42:03.384" v="34" actId="478"/>
          <ac:picMkLst>
            <pc:docMk/>
            <pc:sldMk cId="1241755670" sldId="286"/>
            <ac:picMk id="6" creationId="{EAF41FA6-F88B-AC7E-C8CB-7155ADB4920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9451D-19FE-31F4-402A-BD2E538E2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AE335-AD9D-D96B-8D88-ECFD7BB39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663E4-C98C-1024-F81B-74B47789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82A1-70EA-4316-B2E6-5F404493B1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AF39A-1D9D-7FD3-B119-82175AFDB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AE89A-0921-A86F-E00D-F55483BE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E2A26-F3C0-4E9A-A645-2B7363A2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953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4963-A921-0CAC-8836-0C4C4690A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61CB1-9120-1DE0-5AB0-F24FDD61A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5048F-2031-6A36-8937-BA8283CD0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82A1-70EA-4316-B2E6-5F404493B1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5BBB3-B9C7-0C06-22E8-67C402F0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9BEB7-4ED8-937D-FE08-65BEE8BCA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E2A26-F3C0-4E9A-A645-2B7363A2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34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39F14-3893-6EAA-FD80-5A7E1C38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81CAD-98FD-643E-25D8-BA6279871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0D59-4853-8165-BA5A-C877955B2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82A1-70EA-4316-B2E6-5F404493B1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6EE8D-9DED-96B6-4FA1-995A484BF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E88BF-01D2-8BB7-97F4-BC66FBAD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E2A26-F3C0-4E9A-A645-2B7363A2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810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1A59-6736-983C-456D-E3A115482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C5A1B-1BD7-05EC-6BB3-F9DBA98DD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B5C79-75A9-ED3F-C961-9D37593643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72E42-212C-A72F-16A8-BA3AD551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82A1-70EA-4316-B2E6-5F404493B1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71D05-EAD9-47A0-957E-9E2FDEA8D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106D8-4A96-AB33-93F8-F7D8E8919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E2A26-F3C0-4E9A-A645-2B7363A2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849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73F4-851C-F0EA-8A54-B9E17DA42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4FB30-B736-6BC5-12EA-77230264A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0658B-6E1F-71BA-3558-5401274AD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B2B73D-79A6-1F27-EFD1-4C8CC52E8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BAEDFA-665C-55DD-837C-152B0D0D58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7DEA6F-5316-9E9B-6730-6B8233D5F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82A1-70EA-4316-B2E6-5F404493B1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AE1BFC-4B03-5DEF-32BF-A27E6D438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E724E5-C1CE-5429-854A-B56D07C8C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E2A26-F3C0-4E9A-A645-2B7363A2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698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0C0B-BD96-A55A-6B4F-829B7AB2D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26D2D2-5D71-B8FF-FBDE-E9B61342A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82A1-70EA-4316-B2E6-5F404493B1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BD038-6254-3DDF-D3E1-E2BF9AD8B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C0AF52-227B-4C6D-1174-D6B51354B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E2A26-F3C0-4E9A-A645-2B7363A2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488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0A7DC-504E-4607-AD72-F6D440F53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82A1-70EA-4316-B2E6-5F404493B1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AD472A-A3DB-B6E2-CFDE-86348D9B1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7B64A-C24F-1B30-8ACA-99FB9DC48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E2A26-F3C0-4E9A-A645-2B7363A2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419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E519-BD51-F021-192F-BDC4A5B2E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13FE1-79C2-552D-D845-7D830646B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81572-A4E6-6129-0ADA-7D2811B2B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F8EC0-334F-60C4-3291-EE8E4373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82A1-70EA-4316-B2E6-5F404493B1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92A74-56DD-7F4E-A490-660FC75D8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1D9A2-0891-EA81-FBF8-DDF94E96F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E2A26-F3C0-4E9A-A645-2B7363A2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52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39D93-5B22-B23C-AB89-095BEDA7C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7E6936-F0BE-CAF8-B931-6DF041D79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D8577-1669-F513-48A1-B6BFDE34C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8D216-331F-D5A1-838B-B316AB7C9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82A1-70EA-4316-B2E6-5F404493B1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900F0-323A-C264-D9B3-EBF8A3F3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C388C-682F-9372-7476-E783C682D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E2A26-F3C0-4E9A-A645-2B7363A2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235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DB6F0-9D6E-EED4-86F0-9A9F5109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A38B9-D2A4-2DBB-F7BC-9B692C6AA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05CA3-D25D-ACCF-91E4-FCF7AE3A3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82A1-70EA-4316-B2E6-5F404493B1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7E80B-BEA9-E115-78D7-B763EC090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7D33E-7241-D339-C42E-73C202120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E2A26-F3C0-4E9A-A645-2B7363A2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488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3C6A8D-D755-0B39-7A70-E3B3CF3EC7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EC33E-7864-8719-4B03-C0494E773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C851-F350-DB7F-DDE0-95155605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82A1-70EA-4316-B2E6-5F404493B1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6ADCA-5F2D-9380-1A74-C9FC0F137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4F0C1-CA8D-AC1D-669D-8E2CBB379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E2A26-F3C0-4E9A-A645-2B7363A2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99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9A70C-1ADC-1E05-0124-C44D7052E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1BD04-ED72-BF27-A7A5-1F273875F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C9A99-2A1E-A8E1-BDFA-2B02F31FA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682A1-70EA-4316-B2E6-5F404493B1B9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AE22-FFBD-A7B1-8007-B5CEAFD75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184C2-3706-F007-DC4A-5DE969AD8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E2A26-F3C0-4E9A-A645-2B7363A2D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0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7E746DB-22A3-BE30-3ABD-5B90AA233A30}"/>
              </a:ext>
            </a:extLst>
          </p:cNvPr>
          <p:cNvSpPr/>
          <p:nvPr/>
        </p:nvSpPr>
        <p:spPr>
          <a:xfrm>
            <a:off x="191728" y="174522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66422-1234-0079-6E26-92C5443FABD3}"/>
              </a:ext>
            </a:extLst>
          </p:cNvPr>
          <p:cNvSpPr txBox="1"/>
          <p:nvPr/>
        </p:nvSpPr>
        <p:spPr>
          <a:xfrm>
            <a:off x="997974" y="651076"/>
            <a:ext cx="101960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23MAT214 Mathematics for Intelligent Systems 4</a:t>
            </a:r>
            <a:endParaRPr lang="en-IN" sz="2800" dirty="0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162A7A23-602C-565E-B2D6-E7190ACE6AD8}"/>
              </a:ext>
            </a:extLst>
          </p:cNvPr>
          <p:cNvSpPr txBox="1"/>
          <p:nvPr/>
        </p:nvSpPr>
        <p:spPr>
          <a:xfrm>
            <a:off x="1401097" y="4160711"/>
            <a:ext cx="2644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IN-CHARGE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6EB543C1-E988-532E-A271-AE9EE1868712}"/>
              </a:ext>
            </a:extLst>
          </p:cNvPr>
          <p:cNvSpPr txBox="1"/>
          <p:nvPr/>
        </p:nvSpPr>
        <p:spPr>
          <a:xfrm>
            <a:off x="924233" y="4637264"/>
            <a:ext cx="32643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Jithin Velayudhan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</a:p>
          <a:p>
            <a:pPr algn="ctr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Computational Engineering and Networking (CEN), 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Amrita Vishwa Vidyapeetham, Coimbatore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6F31CAB1-C049-06D6-DFCC-E37D1AD6F0C7}"/>
              </a:ext>
            </a:extLst>
          </p:cNvPr>
          <p:cNvSpPr txBox="1"/>
          <p:nvPr/>
        </p:nvSpPr>
        <p:spPr>
          <a:xfrm>
            <a:off x="7900220" y="4160711"/>
            <a:ext cx="2172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00CA0E-7C46-B09B-0A4A-56800BC6FC29}"/>
              </a:ext>
            </a:extLst>
          </p:cNvPr>
          <p:cNvSpPr/>
          <p:nvPr/>
        </p:nvSpPr>
        <p:spPr>
          <a:xfrm>
            <a:off x="594851" y="1515175"/>
            <a:ext cx="11002296" cy="708899"/>
          </a:xfrm>
          <a:prstGeom prst="rect">
            <a:avLst/>
          </a:prstGeom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Classification of Synchronization States</a:t>
            </a:r>
            <a:endParaRPr lang="en-IN" sz="3600" b="1" kern="1400" spc="-5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A6C8C84C-72DF-DA5E-205A-B4B18BD2550C}"/>
              </a:ext>
            </a:extLst>
          </p:cNvPr>
          <p:cNvSpPr txBox="1"/>
          <p:nvPr/>
        </p:nvSpPr>
        <p:spPr>
          <a:xfrm>
            <a:off x="7369276" y="4868758"/>
            <a:ext cx="3962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S – CB.AI.U4AID24104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Ashwin Naresh M– CB.AI.U4AID24106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Divya Rithanya S– CB.AI.U4AID24113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Vivethasri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C– CB.AI.U4AID24162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A94E23-D4C9-DB3F-2DB4-91041059F5B9}"/>
              </a:ext>
            </a:extLst>
          </p:cNvPr>
          <p:cNvSpPr txBox="1"/>
          <p:nvPr/>
        </p:nvSpPr>
        <p:spPr>
          <a:xfrm>
            <a:off x="5157018" y="2869227"/>
            <a:ext cx="1877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GROUP B3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715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9D4FA-711B-EDB7-A6DD-6591A08A6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769E56-1110-D746-B43D-CE4439D31904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3810B2-42C3-D10B-3B2B-7A577D6645EC}"/>
              </a:ext>
            </a:extLst>
          </p:cNvPr>
          <p:cNvSpPr/>
          <p:nvPr/>
        </p:nvSpPr>
        <p:spPr>
          <a:xfrm>
            <a:off x="904568" y="576261"/>
            <a:ext cx="2782529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2F8C8-34E2-81EF-2F3E-79811AB8FBE9}"/>
              </a:ext>
            </a:extLst>
          </p:cNvPr>
          <p:cNvSpPr txBox="1"/>
          <p:nvPr/>
        </p:nvSpPr>
        <p:spPr>
          <a:xfrm>
            <a:off x="1022555" y="1544640"/>
            <a:ext cx="1052051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is a fundamental phenomenon observed in coupled dynamical systems, where interacting oscillators adjust their phases due to coupling.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system parameters, oscillators may exhibit: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Weak synchronization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Partial synchronization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Strong synchronization</a:t>
            </a:r>
          </a:p>
          <a:p>
            <a:pPr lvl="2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and identifying these synchronization regimes is important in physics, biology, engineering, and complex systems analysis.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work, we analyze phase-difference signals of coupled oscillators and propose a graph-based framework for automatic synchronization classification.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79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8D0A2-3FE7-DD26-CEC7-39589A857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F648D0-D0CF-2B01-39AB-CFA3AAC60499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C5D6CD-81F8-65F8-8DDA-9ABA38BAFDA1}"/>
              </a:ext>
            </a:extLst>
          </p:cNvPr>
          <p:cNvSpPr/>
          <p:nvPr/>
        </p:nvSpPr>
        <p:spPr>
          <a:xfrm>
            <a:off x="904568" y="576261"/>
            <a:ext cx="2782529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OBJECTIVES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BEF77-C002-9508-D9F8-4606C30D6671}"/>
              </a:ext>
            </a:extLst>
          </p:cNvPr>
          <p:cNvSpPr txBox="1"/>
          <p:nvPr/>
        </p:nvSpPr>
        <p:spPr>
          <a:xfrm>
            <a:off x="1602658" y="1717730"/>
            <a:ext cx="8986684" cy="342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this project are: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phase-difference signals from coupled oscillators.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convert continuous phase signals into symbolic sequences using discretization.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construct phase-transition graphs representing signal dynamics.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graph-theoretic features that capture structural and dynamical behavior.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synchronization states using machine learning models.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model performance and interpret discriminative features.</a:t>
            </a:r>
          </a:p>
        </p:txBody>
      </p:sp>
    </p:spTree>
    <p:extLst>
      <p:ext uri="{BB962C8B-B14F-4D97-AF65-F5344CB8AC3E}">
        <p14:creationId xmlns:p14="http://schemas.microsoft.com/office/powerpoint/2010/main" val="90573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1C362-2E0D-4971-5BEE-C16742E2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3BEE9C-73DB-280E-CFE7-C839525F2214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1DA149-FDF9-DDE5-3091-D94C3163C568}"/>
              </a:ext>
            </a:extLst>
          </p:cNvPr>
          <p:cNvSpPr/>
          <p:nvPr/>
        </p:nvSpPr>
        <p:spPr>
          <a:xfrm>
            <a:off x="904568" y="576261"/>
            <a:ext cx="3765755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PROBLEM STATEMENT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7322E-5DF3-EB46-9A8E-5150A8106B37}"/>
              </a:ext>
            </a:extLst>
          </p:cNvPr>
          <p:cNvSpPr txBox="1"/>
          <p:nvPr/>
        </p:nvSpPr>
        <p:spPr>
          <a:xfrm>
            <a:off x="1317522" y="1747226"/>
            <a:ext cx="95569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Coupled oscillators exhibit different synchronization behaviors depending on system dynamics and coupling strength.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is to automatically identify synchronization regimes from phase-difference time-series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approaches rely on signal-based features such as Fourier transforms and entropy measures.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we propose a graph-based representation of phase dynamics and classify synchronization states using structural graph features.</a:t>
            </a:r>
          </a:p>
        </p:txBody>
      </p:sp>
    </p:spTree>
    <p:extLst>
      <p:ext uri="{BB962C8B-B14F-4D97-AF65-F5344CB8AC3E}">
        <p14:creationId xmlns:p14="http://schemas.microsoft.com/office/powerpoint/2010/main" val="2571845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38757-3F1D-F1C3-3961-C2FC7057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AC1A4E-BCE2-8CC2-450B-F5EB1432D12A}"/>
              </a:ext>
            </a:extLst>
          </p:cNvPr>
          <p:cNvSpPr/>
          <p:nvPr/>
        </p:nvSpPr>
        <p:spPr>
          <a:xfrm>
            <a:off x="191728" y="174522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54585F-30C5-F832-7977-2A09BCA121EE}"/>
              </a:ext>
            </a:extLst>
          </p:cNvPr>
          <p:cNvSpPr/>
          <p:nvPr/>
        </p:nvSpPr>
        <p:spPr>
          <a:xfrm>
            <a:off x="904568" y="576261"/>
            <a:ext cx="2782529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DATASET</a:t>
            </a:r>
            <a:endParaRPr lang="en-IN" sz="24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A9A66A0-1BEB-DD04-3571-BE2C08EF53FB}"/>
              </a:ext>
            </a:extLst>
          </p:cNvPr>
          <p:cNvSpPr txBox="1"/>
          <p:nvPr/>
        </p:nvSpPr>
        <p:spPr>
          <a:xfrm>
            <a:off x="1725172" y="1333008"/>
            <a:ext cx="8741653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a matrix of size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(156, 50001)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represents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instantaneous phase difference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two coupled oscillators, sampled at discrete time instants.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Mathematically, each signal can be expressed as: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labeled into three synchronization states: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1: Weak / no synchronization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2: Partial synchronization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3: Strong synchronization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7B9BB-1639-7C75-F3F5-2443DF778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083" y="3202341"/>
            <a:ext cx="3421833" cy="45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37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045EC-6C8B-E991-2D44-6275793EB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14BEF4-DD4F-BB66-062F-F30E1AEC6FF2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24BDF7-1121-F2D9-D5C6-3E0985DE377E}"/>
              </a:ext>
            </a:extLst>
          </p:cNvPr>
          <p:cNvSpPr/>
          <p:nvPr/>
        </p:nvSpPr>
        <p:spPr>
          <a:xfrm>
            <a:off x="904568" y="576261"/>
            <a:ext cx="3746090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RAW SIGNAL ANALYSIS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9191EF-E4FA-B252-064F-262A67B928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79" y="1352161"/>
            <a:ext cx="6696894" cy="4684621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85B2F8A0-B658-043A-ACEC-90C07A20816D}"/>
              </a:ext>
            </a:extLst>
          </p:cNvPr>
          <p:cNvSpPr txBox="1"/>
          <p:nvPr/>
        </p:nvSpPr>
        <p:spPr>
          <a:xfrm>
            <a:off x="7865807" y="1997839"/>
            <a:ext cx="34666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dataset structure, the samples are arranged as: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0–51: Synchronization State 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52–103: Synchronization State 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104–155: Synchronization State 3</a:t>
            </a:r>
          </a:p>
        </p:txBody>
      </p:sp>
    </p:spTree>
    <p:extLst>
      <p:ext uri="{BB962C8B-B14F-4D97-AF65-F5344CB8AC3E}">
        <p14:creationId xmlns:p14="http://schemas.microsoft.com/office/powerpoint/2010/main" val="3782500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4F2EE-D5C9-8CFF-4BF4-20497AB0F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D909AC-522E-EAF5-5507-5C2380D8E0C4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B9C0D3-E8C3-8E12-E2ED-124563C92585}"/>
              </a:ext>
            </a:extLst>
          </p:cNvPr>
          <p:cNvSpPr/>
          <p:nvPr/>
        </p:nvSpPr>
        <p:spPr>
          <a:xfrm>
            <a:off x="904568" y="576261"/>
            <a:ext cx="2939845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DISCRETIZATION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6">
                <a:extLst>
                  <a:ext uri="{FF2B5EF4-FFF2-40B4-BE49-F238E27FC236}">
                    <a16:creationId xmlns:a16="http://schemas.microsoft.com/office/drawing/2014/main" id="{FA472DB6-4A28-9001-A17C-5F3F20F75A2C}"/>
                  </a:ext>
                </a:extLst>
              </p:cNvPr>
              <p:cNvSpPr txBox="1"/>
              <p:nvPr/>
            </p:nvSpPr>
            <p:spPr>
              <a:xfrm>
                <a:off x="927984" y="1512241"/>
                <a:ext cx="10336032" cy="5345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sample is originally:   </a:t>
                </a:r>
                <a:r>
                  <a:rPr lang="el-G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ϕ</a:t>
                </a: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ᵢ(j) : {0,1,…,50000} → ℝ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transform it into: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:{0,1,…,50000}→{0,1,2,…,15}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compute global minimum and maximum for the dataset:</a:t>
                </a:r>
              </a:p>
              <a:p>
                <a:pPr>
                  <a:lnSpc>
                    <a:spcPct val="150000"/>
                  </a:lnSpc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interval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𝛟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𝛟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is divided into 16 equal-width bins: </a:t>
                </a:r>
                <a14:m>
                  <m:oMath xmlns:m="http://schemas.openxmlformats.org/officeDocument/2006/math">
                    <m:r>
                      <a:rPr lang="en-IN" sz="2000" b="1" i="1">
                        <a:latin typeface="Cambria Math" panose="02040503050406030204" pitchFamily="18" charset="0"/>
                      </a:rPr>
                      <m:t>𝚫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𝛟</m:t>
                            </m:r>
                          </m:e>
                          <m:sub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𝛟</m:t>
                            </m:r>
                          </m:e>
                          <m:sub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𝒎𝒊𝒏</m:t>
                            </m:r>
                          </m:sub>
                        </m:sSub>
                      </m:num>
                      <m:den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𝟏𝟔</m:t>
                        </m:r>
                      </m:den>
                    </m:f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bin is defined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IN" sz="20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𝛟</m:t>
                            </m:r>
                          </m:e>
                          <m:sub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𝒎𝒊𝒏</m:t>
                            </m:r>
                          </m:sub>
                        </m:sSub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𝚫</m:t>
                        </m:r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, </m:t>
                        </m:r>
                        <m:sSub>
                          <m:sSubPr>
                            <m:ctrlPr>
                              <a:rPr lang="en-IN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𝛟</m:t>
                            </m:r>
                          </m:e>
                          <m:sub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𝒎𝒊𝒏</m:t>
                            </m:r>
                          </m:sub>
                        </m:sSub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IN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</m:d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 = 0,1,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,15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phase value is mapped to a symbol: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  <m:r>
                      <a:rPr lang="en-I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m:rPr>
                        <m:nor/>
                      </m:rPr>
                      <a:rPr lang="en-IN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 </m:t>
                    </m:r>
                    <m:r>
                      <m:rPr>
                        <m:nor/>
                      </m:rPr>
                      <a:rPr lang="en-IN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if</m:t>
                    </m:r>
                    <m:r>
                      <m:rPr>
                        <m:nor/>
                      </m:rPr>
                      <a:rPr lang="en-IN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 </m:t>
                    </m:r>
                    <m:sSub>
                      <m:sSubPr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𝛟</m:t>
                        </m:r>
                      </m:e>
                      <m:sub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  <m:r>
                      <a:rPr lang="en-IN" sz="2000" b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every time instant is assigned exactly one discrete state</a:t>
                </a:r>
              </a:p>
              <a:p>
                <a:pPr>
                  <a:lnSpc>
                    <a:spcPct val="150000"/>
                  </a:lnSpc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dirty="0"/>
              </a:p>
            </p:txBody>
          </p:sp>
        </mc:Choice>
        <mc:Fallback xmlns="">
          <p:sp>
            <p:nvSpPr>
              <p:cNvPr id="3" name="TextBox 6">
                <a:extLst>
                  <a:ext uri="{FF2B5EF4-FFF2-40B4-BE49-F238E27FC236}">
                    <a16:creationId xmlns:a16="http://schemas.microsoft.com/office/drawing/2014/main" id="{FA472DB6-4A28-9001-A17C-5F3F20F75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984" y="1512241"/>
                <a:ext cx="10336032" cy="5345759"/>
              </a:xfrm>
              <a:prstGeom prst="rect">
                <a:avLst/>
              </a:prstGeom>
              <a:blipFill>
                <a:blip r:embed="rId2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5583AF2-0E18-3988-E271-CCD11C278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46" y="2449708"/>
            <a:ext cx="2358206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426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90E36-C961-CF26-DD97-4E74C6BA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9451C3-E17B-6795-C20A-3A74B233C3E9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37FE87-BE45-762E-AC64-B06C38A117A2}"/>
              </a:ext>
            </a:extLst>
          </p:cNvPr>
          <p:cNvSpPr/>
          <p:nvPr/>
        </p:nvSpPr>
        <p:spPr>
          <a:xfrm>
            <a:off x="904568" y="576261"/>
            <a:ext cx="2841522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DISCRETIZATION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FCD4BB-31D0-6B71-28BE-1E9CD2AF5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68" y="1500494"/>
            <a:ext cx="4530639" cy="4411829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DD60A3B0-75D2-DFAB-8EBB-72273F0B5F5C}"/>
              </a:ext>
            </a:extLst>
          </p:cNvPr>
          <p:cNvSpPr txBox="1"/>
          <p:nvPr/>
        </p:nvSpPr>
        <p:spPr>
          <a:xfrm>
            <a:off x="5914169" y="2913793"/>
            <a:ext cx="52797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Each signal becomes a symbolic sequence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[0.71, 0.72, 0.75, 0.90] → [2, 2, 2, 3]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order is preserved</a:t>
            </a:r>
          </a:p>
        </p:txBody>
      </p:sp>
    </p:spTree>
    <p:extLst>
      <p:ext uri="{BB962C8B-B14F-4D97-AF65-F5344CB8AC3E}">
        <p14:creationId xmlns:p14="http://schemas.microsoft.com/office/powerpoint/2010/main" val="778778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7CA63-CCD3-1D64-E80D-68326F3A4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FC3C53-5506-DAE4-2F4F-285545E3F649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D0A510-0B98-884E-61D6-A8F2C14291A4}"/>
              </a:ext>
            </a:extLst>
          </p:cNvPr>
          <p:cNvSpPr/>
          <p:nvPr/>
        </p:nvSpPr>
        <p:spPr>
          <a:xfrm>
            <a:off x="904568" y="576261"/>
            <a:ext cx="3460955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TRANSITION GRAPH</a:t>
            </a:r>
            <a:endParaRPr lang="en-IN" sz="24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CE99E32-58C2-5B24-A0A8-16D5F4BF5E07}"/>
              </a:ext>
            </a:extLst>
          </p:cNvPr>
          <p:cNvSpPr txBox="1"/>
          <p:nvPr/>
        </p:nvSpPr>
        <p:spPr>
          <a:xfrm>
            <a:off x="904568" y="1341602"/>
            <a:ext cx="74233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Step 2, each signal is now: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sequence of symbols: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S=[s(1),s(2),…,s(T)],s(t)∈{0,1,…,15}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symbol represents which bin the phase value fell into at that time instant. 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3C64F182-B0AA-BB06-E1C9-27B49353F138}"/>
              </a:ext>
            </a:extLst>
          </p:cNvPr>
          <p:cNvSpPr txBox="1"/>
          <p:nvPr/>
        </p:nvSpPr>
        <p:spPr>
          <a:xfrm>
            <a:off x="914401" y="2915262"/>
            <a:ext cx="781664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CONSTRUCTION IDEA: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bin index (0 to 15) is treated as a node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directed edge is drawn from node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j if: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s(t)=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s(t+1)=j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same transition occurs many times, its edge weight is increased.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 graph captures “from which bin does the signal move to which bin, and how often”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graph is: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(V,E)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259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4561-D946-8025-7B5E-FEF0907E7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3D1AE0-8841-D1A2-3641-CE64DE4BF1DF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F5A163-5A76-C4FA-957D-07B8C517731F}"/>
              </a:ext>
            </a:extLst>
          </p:cNvPr>
          <p:cNvSpPr/>
          <p:nvPr/>
        </p:nvSpPr>
        <p:spPr>
          <a:xfrm>
            <a:off x="904568" y="576261"/>
            <a:ext cx="3342967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TRANSITION GRAPH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EE6217-A67D-6337-135F-8C33FE745D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157" y="1500494"/>
            <a:ext cx="8112719" cy="27042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AE8335-8A0F-0C67-5383-DB47AAD572A7}"/>
                  </a:ext>
                </a:extLst>
              </p:cNvPr>
              <p:cNvSpPr txBox="1"/>
              <p:nvPr/>
            </p:nvSpPr>
            <p:spPr>
              <a:xfrm>
                <a:off x="1553497" y="4613847"/>
                <a:ext cx="9674942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graph shows the temporal evolution of phase values in symbolic form.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self-loop </a:t>
                </a:r>
                <a:r>
                  <a:rPr lang="en-IN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a:rPr lang="en-IN" sz="18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i: Signal stays in the same bin </a:t>
                </a:r>
                <a14:m>
                  <m:oMath xmlns:m="http://schemas.openxmlformats.org/officeDocument/2006/math">
                    <m:r>
                      <a:rPr lang="en-IN" sz="18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very stable behaviour.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Many nodes + many edges: Signal jumps between many bins </a:t>
                </a:r>
                <a14:m>
                  <m:oMath xmlns:m="http://schemas.openxmlformats.org/officeDocument/2006/math">
                    <m:r>
                      <a:rPr lang="en-IN" sz="18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weak or no synchronization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Few nodes + structured transitions: Partial synchronization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Single node + self-loop only: Strong synchronization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AE8335-8A0F-0C67-5383-DB47AAD57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497" y="4613847"/>
                <a:ext cx="9674942" cy="1477328"/>
              </a:xfrm>
              <a:prstGeom prst="rect">
                <a:avLst/>
              </a:prstGeom>
              <a:blipFill>
                <a:blip r:embed="rId3"/>
                <a:stretch>
                  <a:fillRect l="-441" t="-2479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1144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2ACB-4C65-ECA8-A050-C972A09BB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BF212A-3653-EC62-654A-BB4E75A9AA26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59ACCB-38C9-3ECD-4A67-8A3B6CFD9E37}"/>
              </a:ext>
            </a:extLst>
          </p:cNvPr>
          <p:cNvSpPr/>
          <p:nvPr/>
        </p:nvSpPr>
        <p:spPr>
          <a:xfrm>
            <a:off x="4203290" y="273465"/>
            <a:ext cx="3785419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FEATURE EXTRACTION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3">
                <a:extLst>
                  <a:ext uri="{FF2B5EF4-FFF2-40B4-BE49-F238E27FC236}">
                    <a16:creationId xmlns:a16="http://schemas.microsoft.com/office/drawing/2014/main" id="{E8DEA08D-1BEF-0CC4-BE2E-CD6ABD53CA18}"/>
                  </a:ext>
                </a:extLst>
              </p:cNvPr>
              <p:cNvSpPr txBox="1"/>
              <p:nvPr/>
            </p:nvSpPr>
            <p:spPr>
              <a:xfrm>
                <a:off x="457201" y="803722"/>
                <a:ext cx="6658891" cy="5857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Number of Nodes (</a:t>
                </a:r>
                <a:r>
                  <a:rPr lang="en-I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Num_Nodes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number of distinct symbols that actually appear in the signal: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shows how many discrete states are visited by a signal.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Number of Edges (</a:t>
                </a:r>
                <a:r>
                  <a:rPr lang="en-I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Num_Edges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number of distinct transitions: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Indicates how complex the symbol switching is.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Graph Density (Density)</a:t>
                </a:r>
                <a:b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how full the graph is compared to a complete directed graph: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 density means more possible transitions are being used.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Mean Degree (</a:t>
                </a:r>
                <a:r>
                  <a:rPr lang="en-I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Mean_Degree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Average number of connections per node: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ˉ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3">
                <a:extLst>
                  <a:ext uri="{FF2B5EF4-FFF2-40B4-BE49-F238E27FC236}">
                    <a16:creationId xmlns:a16="http://schemas.microsoft.com/office/drawing/2014/main" id="{E8DEA08D-1BEF-0CC4-BE2E-CD6ABD53C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803722"/>
                <a:ext cx="6658891" cy="5857244"/>
              </a:xfrm>
              <a:prstGeom prst="rect">
                <a:avLst/>
              </a:prstGeom>
              <a:blipFill>
                <a:blip r:embed="rId2"/>
                <a:stretch>
                  <a:fillRect l="-733" t="-6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620B19-7DD3-D25A-E03C-42662C99F045}"/>
              </a:ext>
            </a:extLst>
          </p:cNvPr>
          <p:cNvCxnSpPr>
            <a:cxnSpLocks/>
          </p:cNvCxnSpPr>
          <p:nvPr/>
        </p:nvCxnSpPr>
        <p:spPr>
          <a:xfrm>
            <a:off x="6685936" y="850184"/>
            <a:ext cx="0" cy="5810782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3">
                <a:extLst>
                  <a:ext uri="{FF2B5EF4-FFF2-40B4-BE49-F238E27FC236}">
                    <a16:creationId xmlns:a16="http://schemas.microsoft.com/office/drawing/2014/main" id="{FF025C76-F53F-2362-9D0F-619660ADF150}"/>
                  </a:ext>
                </a:extLst>
              </p:cNvPr>
              <p:cNvSpPr txBox="1"/>
              <p:nvPr/>
            </p:nvSpPr>
            <p:spPr>
              <a:xfrm>
                <a:off x="6806386" y="803722"/>
                <a:ext cx="5002156" cy="6125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Standard Deviation of Degree (</a:t>
                </a:r>
                <a:r>
                  <a:rPr lang="en-I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Std_Degree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variation in connectivity: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ˉ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acc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 value means some nodes are much more connected than others.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 startAt="6"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Self-Loop Ratio (</a:t>
                </a:r>
                <a:r>
                  <a:rPr lang="en-I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Self_Loop_Ratio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Fraction of transitions where a symbol repeats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𝑁𝑢𝑚𝑏𝑒𝑟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𝑠𝑒𝑙𝑓𝑙𝑜𝑜𝑝𝑠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÷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 value indicates persistence in the same symbol.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 Number of Strongly Connected Components (</a:t>
                </a:r>
                <a:r>
                  <a:rPr lang="en-I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Num_SCC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Counts how many strongly connected subgraphs exist: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Num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SCC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number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SCCs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in</m:t>
                      </m:r>
                      <m:r>
                        <m:rPr>
                          <m:nor/>
                        </m:rP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Many SCCs mean fragmented dynamics.</a:t>
                </a: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3">
                <a:extLst>
                  <a:ext uri="{FF2B5EF4-FFF2-40B4-BE49-F238E27FC236}">
                    <a16:creationId xmlns:a16="http://schemas.microsoft.com/office/drawing/2014/main" id="{FF025C76-F53F-2362-9D0F-619660ADF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386" y="803722"/>
                <a:ext cx="5002156" cy="6125138"/>
              </a:xfrm>
              <a:prstGeom prst="rect">
                <a:avLst/>
              </a:prstGeom>
              <a:blipFill>
                <a:blip r:embed="rId3"/>
                <a:stretch>
                  <a:fillRect l="-1098" t="-5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91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853EA-AB6A-EA67-DB5D-8F52B743C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660802-9615-6F78-E547-2CFE0D2444B9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3">
                <a:extLst>
                  <a:ext uri="{FF2B5EF4-FFF2-40B4-BE49-F238E27FC236}">
                    <a16:creationId xmlns:a16="http://schemas.microsoft.com/office/drawing/2014/main" id="{0AB15478-8BF4-105A-4ACC-CA8F8E2C6EEF}"/>
                  </a:ext>
                </a:extLst>
              </p:cNvPr>
              <p:cNvSpPr txBox="1"/>
              <p:nvPr/>
            </p:nvSpPr>
            <p:spPr>
              <a:xfrm>
                <a:off x="530940" y="1049215"/>
                <a:ext cx="10835149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8. Transition Entropy (</a:t>
                </a:r>
                <a:r>
                  <a:rPr lang="en-I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Transition_Entropy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randomness of transitions: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⁡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𝑢𝑣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∑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 entropy → irregular transitions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 entropy → regular, repetitive transitions</a:t>
                </a:r>
              </a:p>
            </p:txBody>
          </p:sp>
        </mc:Choice>
        <mc:Fallback xmlns="">
          <p:sp>
            <p:nvSpPr>
              <p:cNvPr id="3" name="TextBox 3">
                <a:extLst>
                  <a:ext uri="{FF2B5EF4-FFF2-40B4-BE49-F238E27FC236}">
                    <a16:creationId xmlns:a16="http://schemas.microsoft.com/office/drawing/2014/main" id="{0AB15478-8BF4-105A-4ACC-CA8F8E2C6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40" y="1049215"/>
                <a:ext cx="10835149" cy="1908215"/>
              </a:xfrm>
              <a:prstGeom prst="rect">
                <a:avLst/>
              </a:prstGeom>
              <a:blipFill>
                <a:blip r:embed="rId2"/>
                <a:stretch>
                  <a:fillRect l="-450" t="-1597" b="-41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E0C7367-4A92-D91A-7AB8-24947973734D}"/>
              </a:ext>
            </a:extLst>
          </p:cNvPr>
          <p:cNvSpPr/>
          <p:nvPr/>
        </p:nvSpPr>
        <p:spPr>
          <a:xfrm>
            <a:off x="4203290" y="273465"/>
            <a:ext cx="3785419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FEATURE EXTRACTION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09AE4B-DEBE-7C95-B361-A9F69B0F3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2" y="3218060"/>
            <a:ext cx="4085953" cy="30644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05BC58-D7A0-519B-8F0D-B894177D7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646" y="3578553"/>
            <a:ext cx="5934903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A0574-1945-D0F1-C8A0-F7007414B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8E1ED9-4753-2219-77FD-3EBC80335F94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AA4177-75C6-EB64-211C-258E7DC58EF3}"/>
              </a:ext>
            </a:extLst>
          </p:cNvPr>
          <p:cNvSpPr/>
          <p:nvPr/>
        </p:nvSpPr>
        <p:spPr>
          <a:xfrm>
            <a:off x="904568" y="576261"/>
            <a:ext cx="2969342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CLASSIFICATION</a:t>
            </a:r>
            <a:endParaRPr lang="en-IN" sz="2400" dirty="0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FD6CBDAD-7809-9217-3A95-67917EEA40C9}"/>
              </a:ext>
            </a:extLst>
          </p:cNvPr>
          <p:cNvSpPr txBox="1"/>
          <p:nvPr/>
        </p:nvSpPr>
        <p:spPr>
          <a:xfrm>
            <a:off x="825910" y="1091381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156 samples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sample = 8 graph features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Split: 75% training, 25% testing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used: Random Forest, SVM, Logistic Regression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6557967B-FE80-880C-88FC-E39D3AB71EF0}"/>
              </a:ext>
            </a:extLst>
          </p:cNvPr>
          <p:cNvSpPr txBox="1"/>
          <p:nvPr/>
        </p:nvSpPr>
        <p:spPr>
          <a:xfrm>
            <a:off x="825910" y="2873520"/>
            <a:ext cx="35592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Random Forest Classifier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 Ensemble of decision trees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trees = 150</a:t>
            </a:r>
          </a:p>
          <a:p>
            <a:pPr lvl="1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Random state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nonlinear boundaries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to feature scaling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on mixed feature types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C3356E99-9019-58C4-4E90-B7FF6F5D1FEE}"/>
              </a:ext>
            </a:extLst>
          </p:cNvPr>
          <p:cNvSpPr txBox="1"/>
          <p:nvPr/>
        </p:nvSpPr>
        <p:spPr>
          <a:xfrm>
            <a:off x="4478592" y="2873520"/>
            <a:ext cx="37165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2. Support Vector Machine (SVM)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Kernel: Radial Basis Function (RBF)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1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 = "scale"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nonlinear class separation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Maximizes margin between classes</a:t>
            </a: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DA4D15A7-9B84-FCAA-F469-54E6800BA1D9}"/>
              </a:ext>
            </a:extLst>
          </p:cNvPr>
          <p:cNvSpPr txBox="1"/>
          <p:nvPr/>
        </p:nvSpPr>
        <p:spPr>
          <a:xfrm>
            <a:off x="8445907" y="2873520"/>
            <a:ext cx="35592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Logistic Regression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 Linear classifier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iterations = 2000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baseline model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whether features are linearly separable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8AF1D7-795B-9C99-7DFC-5F3667E086D1}"/>
              </a:ext>
            </a:extLst>
          </p:cNvPr>
          <p:cNvCxnSpPr/>
          <p:nvPr/>
        </p:nvCxnSpPr>
        <p:spPr>
          <a:xfrm>
            <a:off x="4385190" y="2912192"/>
            <a:ext cx="0" cy="28236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FC13A-1A68-D0B3-81A2-BE753CD81D10}"/>
              </a:ext>
            </a:extLst>
          </p:cNvPr>
          <p:cNvCxnSpPr/>
          <p:nvPr/>
        </p:nvCxnSpPr>
        <p:spPr>
          <a:xfrm>
            <a:off x="8273848" y="2892856"/>
            <a:ext cx="0" cy="28236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329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42892-70CD-15EA-97AE-6FD9F07C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E9335B-D4BD-9B64-8F6C-AD53C0AA33F6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A5D9C1-B6ED-DD5E-DEE7-C28F4991EC06}"/>
              </a:ext>
            </a:extLst>
          </p:cNvPr>
          <p:cNvSpPr/>
          <p:nvPr/>
        </p:nvSpPr>
        <p:spPr>
          <a:xfrm>
            <a:off x="904568" y="576261"/>
            <a:ext cx="2861187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CLASSIFICATION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69AD23-ACB0-F809-6686-918D66D79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68" y="1340547"/>
            <a:ext cx="3268434" cy="22301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D3DF2F-06C1-8D5C-49C2-DC0258CEB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388" y="1342914"/>
            <a:ext cx="3097223" cy="2227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DC5EEB-A49D-474F-200C-4B49C4889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8997" y="1337813"/>
            <a:ext cx="3337849" cy="2232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0E11FB-6BB6-795D-1830-D26808D9BBA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1" r="64636"/>
          <a:stretch>
            <a:fillRect/>
          </a:stretch>
        </p:blipFill>
        <p:spPr bwMode="auto">
          <a:xfrm>
            <a:off x="1014518" y="3819832"/>
            <a:ext cx="3048533" cy="2690709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128BC1-0A6F-FD65-BE92-AAD86FA77BA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36" t="6381" r="33526"/>
          <a:stretch>
            <a:fillRect/>
          </a:stretch>
        </p:blipFill>
        <p:spPr bwMode="auto">
          <a:xfrm>
            <a:off x="4704999" y="3801634"/>
            <a:ext cx="2781999" cy="2643501"/>
          </a:xfrm>
          <a:prstGeom prst="rect">
            <a:avLst/>
          </a:prstGeom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919015-3EA7-9DC7-7545-CC2EC3C187A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6" t="4387"/>
          <a:stretch>
            <a:fillRect/>
          </a:stretch>
        </p:blipFill>
        <p:spPr bwMode="auto">
          <a:xfrm>
            <a:off x="8456118" y="3934129"/>
            <a:ext cx="2463606" cy="24495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8941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49C44-8514-B0BB-83F3-6C0879B6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174D5C-AD8A-EF69-705C-BD1C3594C7D6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CF924F-0023-3158-67DE-852294777B1F}"/>
              </a:ext>
            </a:extLst>
          </p:cNvPr>
          <p:cNvSpPr/>
          <p:nvPr/>
        </p:nvSpPr>
        <p:spPr>
          <a:xfrm>
            <a:off x="904568" y="576261"/>
            <a:ext cx="3913238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FEATURE IMPORTANCE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D359E-F806-7EDB-038C-831079FFF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1300312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94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BAE49-01BE-CBCA-9418-A364B6C9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501A13-FB79-8E95-E925-B7FB5EF246B0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C46376-9F3E-73C3-CB6F-CEC50DB35577}"/>
              </a:ext>
            </a:extLst>
          </p:cNvPr>
          <p:cNvSpPr/>
          <p:nvPr/>
        </p:nvSpPr>
        <p:spPr>
          <a:xfrm>
            <a:off x="904568" y="576261"/>
            <a:ext cx="4041058" cy="51512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FEATURE CORRELATION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13E18E-36A0-74E3-164B-19130F668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124" y="1243085"/>
            <a:ext cx="7041751" cy="528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755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7BB81-AD98-AA60-3CDE-A20AFC548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E57575-F549-E6F8-7968-75AB7FEA02C1}"/>
              </a:ext>
            </a:extLst>
          </p:cNvPr>
          <p:cNvSpPr/>
          <p:nvPr/>
        </p:nvSpPr>
        <p:spPr>
          <a:xfrm>
            <a:off x="196645" y="167148"/>
            <a:ext cx="11808542" cy="6508955"/>
          </a:xfrm>
          <a:prstGeom prst="roundRect">
            <a:avLst/>
          </a:prstGeom>
          <a:ln w="5715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0C8D94-4A96-D54C-C524-D46BA6E7F129}"/>
              </a:ext>
            </a:extLst>
          </p:cNvPr>
          <p:cNvSpPr txBox="1"/>
          <p:nvPr/>
        </p:nvSpPr>
        <p:spPr>
          <a:xfrm>
            <a:off x="2662084" y="2710848"/>
            <a:ext cx="6867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7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THANK YOU !!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2119180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1147</Words>
  <Application>Microsoft Office PowerPoint</Application>
  <PresentationFormat>Widescreen</PresentationFormat>
  <Paragraphs>152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Rithanya Sivakumar</dc:creator>
  <cp:lastModifiedBy>Divya Rithanya Sivakumar</cp:lastModifiedBy>
  <cp:revision>1</cp:revision>
  <dcterms:created xsi:type="dcterms:W3CDTF">2026-03-03T13:54:26Z</dcterms:created>
  <dcterms:modified xsi:type="dcterms:W3CDTF">2026-03-04T02:42:52Z</dcterms:modified>
</cp:coreProperties>
</file>